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 autoCompressPictures="0">
  <p:sldMasterIdLst>
    <p:sldMasterId id="2147483667" r:id="rId1"/>
  </p:sldMasterIdLst>
  <p:notesMasterIdLst>
    <p:notesMasterId r:id="rId17"/>
  </p:notesMasterIdLst>
  <p:handoutMasterIdLst>
    <p:handoutMasterId r:id="rId18"/>
  </p:handoutMasterIdLst>
  <p:sldIdLst>
    <p:sldId id="479" r:id="rId2"/>
    <p:sldId id="666" r:id="rId3"/>
    <p:sldId id="673" r:id="rId4"/>
    <p:sldId id="695" r:id="rId5"/>
    <p:sldId id="723" r:id="rId6"/>
    <p:sldId id="727" r:id="rId7"/>
    <p:sldId id="724" r:id="rId8"/>
    <p:sldId id="696" r:id="rId9"/>
    <p:sldId id="694" r:id="rId10"/>
    <p:sldId id="686" r:id="rId11"/>
    <p:sldId id="725" r:id="rId12"/>
    <p:sldId id="674" r:id="rId13"/>
    <p:sldId id="680" r:id="rId14"/>
    <p:sldId id="730" r:id="rId15"/>
    <p:sldId id="729" r:id="rId16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273">
          <p15:clr>
            <a:srgbClr val="A4A3A4"/>
          </p15:clr>
        </p15:guide>
        <p15:guide id="2" pos="3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15B"/>
    <a:srgbClr val="E2001A"/>
    <a:srgbClr val="730000"/>
    <a:srgbClr val="42B23C"/>
    <a:srgbClr val="009CD1"/>
    <a:srgbClr val="172024"/>
    <a:srgbClr val="261F29"/>
    <a:srgbClr val="FFFF66"/>
    <a:srgbClr val="FFCC66"/>
    <a:srgbClr val="379B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91" autoAdjust="0"/>
  </p:normalViewPr>
  <p:slideViewPr>
    <p:cSldViewPr>
      <p:cViewPr varScale="1">
        <p:scale>
          <a:sx n="113" d="100"/>
          <a:sy n="113" d="100"/>
        </p:scale>
        <p:origin x="1536" y="114"/>
      </p:cViewPr>
      <p:guideLst>
        <p:guide orient="horz" pos="4273"/>
        <p:guide pos="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6" d="100"/>
          <a:sy n="126" d="100"/>
        </p:scale>
        <p:origin x="-231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Calibri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4D8D7-5C61-004E-A19A-B15FA6ECA6CE}" type="datetimeFigureOut">
              <a:rPr lang="de-DE" smtClean="0">
                <a:latin typeface="Calibri"/>
              </a:rPr>
              <a:t>14.07.2025</a:t>
            </a:fld>
            <a:endParaRPr lang="de-DE" dirty="0">
              <a:latin typeface="Calibri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sz="1000" dirty="0">
                <a:latin typeface="Calibri"/>
              </a:rPr>
              <a:t>https://</a:t>
            </a:r>
            <a:r>
              <a:rPr lang="de-DE" sz="1000" dirty="0" err="1">
                <a:latin typeface="Calibri"/>
              </a:rPr>
              <a:t>svs.informatik.uni-hamburg.de</a:t>
            </a:r>
            <a:endParaRPr lang="de-DE" sz="1000" dirty="0">
              <a:latin typeface="Calibri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5C1CF-A799-164B-9217-A88421C2FE91}" type="slidenum">
              <a:rPr lang="de-DE" smtClean="0">
                <a:latin typeface="Calibri"/>
              </a:rPr>
              <a:t>‹#›</a:t>
            </a:fld>
            <a:endParaRPr lang="de-DE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873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ndale Mono" pitchFamily="-107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ndale Mono" pitchFamily="-107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53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3153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ndale Mono" pitchFamily="-107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153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ndale Mono" pitchFamily="-107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9DDC5E44-63C0-EF42-9B94-8202B4B6C3D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96954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2F106329-1E2C-124D-9538-AF52D439D180}" type="slidenum">
              <a:rPr lang="de-DE" sz="1200">
                <a:latin typeface="Andale Mono" charset="0"/>
              </a:rPr>
              <a:pPr/>
              <a:t>1</a:t>
            </a:fld>
            <a:endParaRPr lang="de-DE" sz="1200">
              <a:latin typeface="Andale Mono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2F106329-1E2C-124D-9538-AF52D439D180}" type="slidenum">
              <a:rPr lang="de-DE" sz="1200">
                <a:latin typeface="Andale Mono" charset="0"/>
              </a:rPr>
              <a:pPr/>
              <a:t>3</a:t>
            </a:fld>
            <a:endParaRPr lang="de-DE" sz="1200">
              <a:latin typeface="Andale Mono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2263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2F106329-1E2C-124D-9538-AF52D439D180}" type="slidenum">
              <a:rPr lang="de-DE" sz="1200">
                <a:latin typeface="Andale Mono" charset="0"/>
              </a:rPr>
              <a:pPr/>
              <a:t>5</a:t>
            </a:fld>
            <a:endParaRPr lang="de-DE" sz="1200">
              <a:latin typeface="Andale Mono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8991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2F106329-1E2C-124D-9538-AF52D439D180}" type="slidenum">
              <a:rPr lang="de-DE" sz="1200">
                <a:latin typeface="Andale Mono" charset="0"/>
              </a:rPr>
              <a:pPr/>
              <a:t>8</a:t>
            </a:fld>
            <a:endParaRPr lang="de-DE" sz="1200">
              <a:latin typeface="Andale Mono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4323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2F106329-1E2C-124D-9538-AF52D439D180}" type="slidenum">
              <a:rPr lang="de-DE" sz="1200">
                <a:latin typeface="Andale Mono" charset="0"/>
              </a:rPr>
              <a:pPr/>
              <a:t>12</a:t>
            </a:fld>
            <a:endParaRPr lang="de-DE" sz="1200">
              <a:latin typeface="Andale Mono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194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0" y="1412776"/>
            <a:ext cx="9144000" cy="5445224"/>
          </a:xfrm>
          <a:prstGeom prst="rect">
            <a:avLst/>
          </a:prstGeom>
          <a:solidFill>
            <a:srgbClr val="3B515B"/>
          </a:solidFill>
          <a:ln>
            <a:noFill/>
          </a:ln>
          <a:extLst/>
        </p:spPr>
        <p:txBody>
          <a:bodyPr wrap="none" lIns="0" tIns="0" rIns="0" bIns="0" anchor="ctr"/>
          <a:lstStyle/>
          <a:p>
            <a:pPr algn="ctr" eaLnBrk="0" hangingPunct="0"/>
            <a:endParaRPr lang="de-DE" sz="1800" dirty="0">
              <a:latin typeface="Calibri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457200" y="6611779"/>
            <a:ext cx="10668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fld id="{B7849735-95B2-AB44-9C74-7ECEA7ECDD33}" type="slidenum">
              <a:rPr lang="de-DE" sz="1000" smtClean="0">
                <a:latin typeface="Calibri"/>
                <a:cs typeface="Calibri"/>
              </a:rPr>
              <a:pPr>
                <a:spcBef>
                  <a:spcPct val="50000"/>
                </a:spcBef>
                <a:defRPr/>
              </a:pPr>
              <a:t>‹#›</a:t>
            </a:fld>
            <a:endParaRPr lang="de-DE" sz="1000">
              <a:latin typeface="Calibri"/>
              <a:cs typeface="Calibri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43091" y="3078342"/>
            <a:ext cx="6781800" cy="1066800"/>
          </a:xfrm>
          <a:ln>
            <a:noFill/>
          </a:ln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5013176"/>
            <a:ext cx="6781800" cy="990600"/>
          </a:xfrm>
        </p:spPr>
        <p:txBody>
          <a:bodyPr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2555776" y="116632"/>
            <a:ext cx="5400600" cy="1224136"/>
          </a:xfrm>
        </p:spPr>
        <p:txBody>
          <a:bodyPr anchor="ctr"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2" name="Bild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2733648" cy="1479940"/>
          </a:xfrm>
          <a:prstGeom prst="rect">
            <a:avLst/>
          </a:prstGeom>
        </p:spPr>
      </p:pic>
      <p:pic>
        <p:nvPicPr>
          <p:cNvPr id="1026" name="Picture 2" descr="Z:\informatik2\sp\intern\templates_CI\Logo\logoSPston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486158"/>
            <a:ext cx="779563" cy="436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15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43608" y="116632"/>
            <a:ext cx="7056784" cy="720080"/>
          </a:xfrm>
        </p:spPr>
        <p:txBody>
          <a:bodyPr/>
          <a:lstStyle>
            <a:lvl1pPr>
              <a:defRPr>
                <a:solidFill>
                  <a:srgbClr val="3B515B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pic>
        <p:nvPicPr>
          <p:cNvPr id="128" name="Grafik 1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5" y="331262"/>
            <a:ext cx="432050" cy="440202"/>
          </a:xfrm>
          <a:prstGeom prst="rect">
            <a:avLst/>
          </a:prstGeom>
        </p:spPr>
      </p:pic>
      <p:pic>
        <p:nvPicPr>
          <p:cNvPr id="7" name="Picture 2" descr="Z:\informatik2\sp\intern\templates_CI\Logo\logoSPston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334909"/>
            <a:ext cx="779563" cy="436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82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6632"/>
            <a:ext cx="8458200" cy="1026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642100"/>
            <a:ext cx="17145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defRPr sz="1000">
                <a:latin typeface="Calibri"/>
                <a:ea typeface="+mn-ea"/>
                <a:cs typeface="Calibri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42100"/>
            <a:ext cx="28956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defRPr sz="1000">
                <a:latin typeface="Calibri"/>
                <a:ea typeface="+mn-ea"/>
                <a:cs typeface="Calibri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030" name="Line 16"/>
          <p:cNvSpPr>
            <a:spLocks noChangeShapeType="1"/>
          </p:cNvSpPr>
          <p:nvPr/>
        </p:nvSpPr>
        <p:spPr bwMode="auto">
          <a:xfrm>
            <a:off x="457200" y="1143000"/>
            <a:ext cx="84582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 dirty="0">
              <a:latin typeface="Calibri"/>
            </a:endParaRPr>
          </a:p>
        </p:txBody>
      </p:sp>
      <p:sp>
        <p:nvSpPr>
          <p:cNvPr id="2055" name="Text Box 18"/>
          <p:cNvSpPr txBox="1">
            <a:spLocks noChangeArrowheads="1"/>
          </p:cNvSpPr>
          <p:nvPr/>
        </p:nvSpPr>
        <p:spPr bwMode="auto">
          <a:xfrm>
            <a:off x="457200" y="6611779"/>
            <a:ext cx="10668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fld id="{35BC59A6-664E-604E-A328-3911782993BB}" type="slidenum">
              <a:rPr lang="de-DE" sz="1000" smtClean="0">
                <a:latin typeface="Calibri"/>
                <a:cs typeface="Calibri"/>
              </a:rPr>
              <a:pPr>
                <a:spcBef>
                  <a:spcPct val="50000"/>
                </a:spcBef>
                <a:defRPr/>
              </a:pPr>
              <a:t>‹#›</a:t>
            </a:fld>
            <a:endParaRPr lang="de-DE" sz="1000">
              <a:latin typeface="Calibri"/>
              <a:cs typeface="Calibri"/>
            </a:endParaRP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0" y="1143000"/>
            <a:ext cx="9144000" cy="2791"/>
          </a:xfrm>
          <a:prstGeom prst="line">
            <a:avLst/>
          </a:prstGeom>
          <a:ln w="25400">
            <a:solidFill>
              <a:srgbClr val="009C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4" r:id="rId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3B515B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>
          <a:solidFill>
            <a:srgbClr val="7B7B7B"/>
          </a:solidFill>
          <a:latin typeface="Verdana" pitchFamily="-107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>
          <a:solidFill>
            <a:srgbClr val="7B7B7B"/>
          </a:solidFill>
          <a:latin typeface="Verdana" pitchFamily="-107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>
          <a:solidFill>
            <a:srgbClr val="7B7B7B"/>
          </a:solidFill>
          <a:latin typeface="Verdana" pitchFamily="-107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>
          <a:solidFill>
            <a:srgbClr val="7B7B7B"/>
          </a:solidFill>
          <a:latin typeface="Verdana" pitchFamily="-107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hlink"/>
          </a:solidFill>
          <a:latin typeface="Verdana" pitchFamily="-107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hlink"/>
          </a:solidFill>
          <a:latin typeface="Verdana" pitchFamily="-107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hlink"/>
          </a:solidFill>
          <a:latin typeface="Verdana" pitchFamily="-107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hlink"/>
          </a:solidFill>
          <a:latin typeface="Verdana" pitchFamily="-107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9CD1"/>
        </a:buClr>
        <a:buSzPct val="120000"/>
        <a:buFont typeface="Wingdings" charset="2"/>
        <a:buChar char="§"/>
        <a:defRPr sz="20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CD1"/>
        </a:buClr>
        <a:buChar char="–"/>
        <a:defRPr sz="2000">
          <a:solidFill>
            <a:schemeClr val="tx1"/>
          </a:solidFill>
          <a:latin typeface="Arial" pitchFamily="34" charset="0"/>
          <a:ea typeface="ＭＳ Ｐゴシック" pitchFamily="-107" charset="-128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9CD1"/>
        </a:buClr>
        <a:buSzPct val="90000"/>
        <a:buChar char="•"/>
        <a:defRPr sz="2000">
          <a:solidFill>
            <a:schemeClr val="tx1"/>
          </a:solidFill>
          <a:latin typeface="Arial" pitchFamily="34" charset="0"/>
          <a:ea typeface="ＭＳ Ｐゴシック" pitchFamily="-107" charset="-128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itchFamily="34" charset="0"/>
          <a:ea typeface="ＭＳ Ｐゴシック" pitchFamily="-107" charset="-128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  <a:ea typeface="ＭＳ Ｐゴシック" pitchFamily="-107" charset="-128"/>
          <a:cs typeface="Arial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07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07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07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07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95536" y="3014822"/>
            <a:ext cx="6781800" cy="1066800"/>
          </a:xfrm>
        </p:spPr>
        <p:txBody>
          <a:bodyPr/>
          <a:lstStyle/>
          <a:p>
            <a:r>
              <a:rPr lang="en-US" dirty="0"/>
              <a:t>Short-Term Weather Prediction Using Deep Learning</a:t>
            </a:r>
            <a:endParaRPr lang="de-DE" dirty="0"/>
          </a:p>
        </p:txBody>
      </p:sp>
      <p:sp>
        <p:nvSpPr>
          <p:cNvPr id="5122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95536" y="4437112"/>
            <a:ext cx="6781800" cy="990600"/>
          </a:xfrm>
        </p:spPr>
        <p:txBody>
          <a:bodyPr/>
          <a:lstStyle/>
          <a:p>
            <a:pPr marL="12700">
              <a:spcBef>
                <a:spcPts val="95"/>
              </a:spcBef>
            </a:pPr>
            <a:r>
              <a:rPr lang="en-US" dirty="0"/>
              <a:t>PDCL Project </a:t>
            </a:r>
            <a:r>
              <a:rPr lang="en-US" dirty="0" err="1"/>
              <a:t>SoSe</a:t>
            </a:r>
            <a:r>
              <a:rPr lang="en-US" dirty="0"/>
              <a:t> 2025</a:t>
            </a:r>
            <a:endParaRPr lang="it-IT" dirty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it-IT" dirty="0"/>
              <a:t>Aqsa Mohsin</a:t>
            </a:r>
            <a:endParaRPr lang="en-US" dirty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dirty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dirty="0"/>
          </a:p>
          <a:p>
            <a:endParaRPr lang="de-DE" dirty="0"/>
          </a:p>
        </p:txBody>
      </p:sp>
      <p:sp>
        <p:nvSpPr>
          <p:cNvPr id="512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2555776" y="-1107504"/>
            <a:ext cx="5544616" cy="792088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09DFC844-4590-4CC9-9B8F-8D0F9248B19B}"/>
              </a:ext>
            </a:extLst>
          </p:cNvPr>
          <p:cNvSpPr/>
          <p:nvPr/>
        </p:nvSpPr>
        <p:spPr>
          <a:xfrm flipV="1">
            <a:off x="40687" y="4135760"/>
            <a:ext cx="4387297" cy="53255"/>
          </a:xfrm>
          <a:custGeom>
            <a:avLst/>
            <a:gdLst/>
            <a:ahLst/>
            <a:cxnLst/>
            <a:rect l="l" t="t" r="r" b="b"/>
            <a:pathLst>
              <a:path w="2520315" h="25400">
                <a:moveTo>
                  <a:pt x="2519997" y="0"/>
                </a:moveTo>
                <a:lnTo>
                  <a:pt x="0" y="0"/>
                </a:lnTo>
                <a:lnTo>
                  <a:pt x="0" y="25311"/>
                </a:lnTo>
                <a:lnTo>
                  <a:pt x="2519997" y="25311"/>
                </a:lnTo>
                <a:lnTo>
                  <a:pt x="2519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E3A88E-F0F0-4817-97FF-11384D6E429C}"/>
              </a:ext>
            </a:extLst>
          </p:cNvPr>
          <p:cNvSpPr/>
          <p:nvPr/>
        </p:nvSpPr>
        <p:spPr>
          <a:xfrm>
            <a:off x="6660232" y="6093296"/>
            <a:ext cx="4572000" cy="59759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July 14 2025</a:t>
            </a:r>
          </a:p>
          <a:p>
            <a:pPr marL="12700">
              <a:spcBef>
                <a:spcPts val="95"/>
              </a:spcBef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Universität Hamburg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de-DE" dirty="0"/>
          </a:p>
        </p:txBody>
      </p:sp>
      <p:sp>
        <p:nvSpPr>
          <p:cNvPr id="7170" name="Inhaltsplatzhalter 2"/>
          <p:cNvSpPr>
            <a:spLocks noGrp="1"/>
          </p:cNvSpPr>
          <p:nvPr>
            <p:ph idx="4294967295"/>
          </p:nvPr>
        </p:nvSpPr>
        <p:spPr>
          <a:xfrm>
            <a:off x="611560" y="1154635"/>
            <a:ext cx="8100392" cy="5616102"/>
          </a:xfrm>
        </p:spPr>
        <p:txBody>
          <a:bodyPr/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Motivation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Methodology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Results &amp; Evaluation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738549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95536" y="3014822"/>
            <a:ext cx="6781800" cy="1066800"/>
          </a:xfrm>
        </p:spPr>
        <p:txBody>
          <a:bodyPr/>
          <a:lstStyle/>
          <a:p>
            <a:r>
              <a:rPr lang="en-US" dirty="0"/>
              <a:t>Motivation</a:t>
            </a:r>
            <a:endParaRPr lang="de-DE" dirty="0"/>
          </a:p>
        </p:txBody>
      </p:sp>
      <p:sp>
        <p:nvSpPr>
          <p:cNvPr id="512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2555776" y="-1107504"/>
            <a:ext cx="5544616" cy="792088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09DFC844-4590-4CC9-9B8F-8D0F9248B19B}"/>
              </a:ext>
            </a:extLst>
          </p:cNvPr>
          <p:cNvSpPr/>
          <p:nvPr/>
        </p:nvSpPr>
        <p:spPr>
          <a:xfrm flipV="1">
            <a:off x="40687" y="4135760"/>
            <a:ext cx="4387297" cy="53255"/>
          </a:xfrm>
          <a:custGeom>
            <a:avLst/>
            <a:gdLst/>
            <a:ahLst/>
            <a:cxnLst/>
            <a:rect l="l" t="t" r="r" b="b"/>
            <a:pathLst>
              <a:path w="2520315" h="25400">
                <a:moveTo>
                  <a:pt x="2519997" y="0"/>
                </a:moveTo>
                <a:lnTo>
                  <a:pt x="0" y="0"/>
                </a:lnTo>
                <a:lnTo>
                  <a:pt x="0" y="25311"/>
                </a:lnTo>
                <a:lnTo>
                  <a:pt x="2519997" y="25311"/>
                </a:lnTo>
                <a:lnTo>
                  <a:pt x="2519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578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de-DE" dirty="0"/>
          </a:p>
        </p:txBody>
      </p:sp>
      <p:sp>
        <p:nvSpPr>
          <p:cNvPr id="7170" name="Inhaltsplatzhalter 2"/>
          <p:cNvSpPr>
            <a:spLocks noGrp="1"/>
          </p:cNvSpPr>
          <p:nvPr>
            <p:ph idx="4294967295"/>
          </p:nvPr>
        </p:nvSpPr>
        <p:spPr>
          <a:xfrm>
            <a:off x="611560" y="1412776"/>
            <a:ext cx="8100392" cy="5616102"/>
          </a:xfrm>
        </p:spPr>
        <p:txBody>
          <a:bodyPr/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Accurate weather forecasts are vital for agriculture, disaster management, and energy use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Traditional methods are physics-based and compute-heavy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Deep learning provides a fast, data-driven alternative to model temporal dependencies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This project explores whether LSTM and GRU can learn short-term temperature patterns</a:t>
            </a:r>
          </a:p>
        </p:txBody>
      </p:sp>
    </p:spTree>
    <p:extLst>
      <p:ext uri="{BB962C8B-B14F-4D97-AF65-F5344CB8AC3E}">
        <p14:creationId xmlns:p14="http://schemas.microsoft.com/office/powerpoint/2010/main" val="3728786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95536" y="3014822"/>
            <a:ext cx="6781800" cy="1066800"/>
          </a:xfrm>
        </p:spPr>
        <p:txBody>
          <a:bodyPr/>
          <a:lstStyle/>
          <a:p>
            <a:r>
              <a:rPr lang="en-US" dirty="0"/>
              <a:t>Methodology</a:t>
            </a:r>
            <a:endParaRPr lang="de-DE" dirty="0"/>
          </a:p>
        </p:txBody>
      </p:sp>
      <p:sp>
        <p:nvSpPr>
          <p:cNvPr id="512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2555776" y="-1107504"/>
            <a:ext cx="5544616" cy="792088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09DFC844-4590-4CC9-9B8F-8D0F9248B19B}"/>
              </a:ext>
            </a:extLst>
          </p:cNvPr>
          <p:cNvSpPr/>
          <p:nvPr/>
        </p:nvSpPr>
        <p:spPr>
          <a:xfrm flipV="1">
            <a:off x="40687" y="4135760"/>
            <a:ext cx="4387297" cy="53255"/>
          </a:xfrm>
          <a:custGeom>
            <a:avLst/>
            <a:gdLst/>
            <a:ahLst/>
            <a:cxnLst/>
            <a:rect l="l" t="t" r="r" b="b"/>
            <a:pathLst>
              <a:path w="2520315" h="25400">
                <a:moveTo>
                  <a:pt x="2519997" y="0"/>
                </a:moveTo>
                <a:lnTo>
                  <a:pt x="0" y="0"/>
                </a:lnTo>
                <a:lnTo>
                  <a:pt x="0" y="25311"/>
                </a:lnTo>
                <a:lnTo>
                  <a:pt x="2519997" y="25311"/>
                </a:lnTo>
                <a:lnTo>
                  <a:pt x="2519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3890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de-DE" dirty="0"/>
          </a:p>
        </p:txBody>
      </p:sp>
      <p:sp>
        <p:nvSpPr>
          <p:cNvPr id="7170" name="Inhaltsplatzhalter 2"/>
          <p:cNvSpPr>
            <a:spLocks noGrp="1"/>
          </p:cNvSpPr>
          <p:nvPr>
            <p:ph idx="4294967295"/>
          </p:nvPr>
        </p:nvSpPr>
        <p:spPr>
          <a:xfrm>
            <a:off x="611560" y="1844824"/>
            <a:ext cx="8100392" cy="5616102"/>
          </a:xfrm>
        </p:spPr>
        <p:txBody>
          <a:bodyPr/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Predict next-day temperature using deep learning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Models: LSTM, GRU (RNN-based)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Baselines: Persistence, Climatology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Dataset: Melbourne daily minimum temperature (1981–1990)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217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de-DE" dirty="0"/>
          </a:p>
        </p:txBody>
      </p:sp>
      <p:sp>
        <p:nvSpPr>
          <p:cNvPr id="7170" name="Inhaltsplatzhalter 2"/>
          <p:cNvSpPr>
            <a:spLocks noGrp="1"/>
          </p:cNvSpPr>
          <p:nvPr>
            <p:ph idx="4294967295"/>
          </p:nvPr>
        </p:nvSpPr>
        <p:spPr>
          <a:xfrm>
            <a:off x="611560" y="1844824"/>
            <a:ext cx="8100392" cy="5616102"/>
          </a:xfrm>
        </p:spPr>
        <p:txBody>
          <a:bodyPr/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Split: 80% of the data used for training, 20% for testing</a:t>
            </a:r>
          </a:p>
          <a:p>
            <a:pPr lvl="0"/>
            <a:endParaRPr lang="en-US" dirty="0"/>
          </a:p>
          <a:p>
            <a:r>
              <a:rPr lang="en-US" dirty="0"/>
              <a:t>Preprocessing: Normalize (</a:t>
            </a:r>
            <a:r>
              <a:rPr lang="en-US" dirty="0" err="1"/>
              <a:t>MinMax</a:t>
            </a:r>
            <a:r>
              <a:rPr lang="en-US" dirty="0"/>
              <a:t>), create 7-day input sequences</a:t>
            </a:r>
          </a:p>
          <a:p>
            <a:endParaRPr lang="en-US" dirty="0"/>
          </a:p>
          <a:p>
            <a:pPr lvl="0"/>
            <a:r>
              <a:rPr lang="en-US" dirty="0"/>
              <a:t>Models trained with MSE loss, evaluated using MAE &amp; RMSE</a:t>
            </a:r>
          </a:p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7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95536" y="3014822"/>
            <a:ext cx="8748464" cy="1066800"/>
          </a:xfrm>
        </p:spPr>
        <p:txBody>
          <a:bodyPr/>
          <a:lstStyle/>
          <a:p>
            <a:r>
              <a:rPr lang="en-US" dirty="0"/>
              <a:t>Results &amp; Evaluation</a:t>
            </a:r>
          </a:p>
        </p:txBody>
      </p:sp>
      <p:sp>
        <p:nvSpPr>
          <p:cNvPr id="512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2555776" y="-1107504"/>
            <a:ext cx="5544616" cy="792088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09DFC844-4590-4CC9-9B8F-8D0F9248B19B}"/>
              </a:ext>
            </a:extLst>
          </p:cNvPr>
          <p:cNvSpPr/>
          <p:nvPr/>
        </p:nvSpPr>
        <p:spPr>
          <a:xfrm flipV="1">
            <a:off x="40687" y="4135760"/>
            <a:ext cx="4387297" cy="53255"/>
          </a:xfrm>
          <a:custGeom>
            <a:avLst/>
            <a:gdLst/>
            <a:ahLst/>
            <a:cxnLst/>
            <a:rect l="l" t="t" r="r" b="b"/>
            <a:pathLst>
              <a:path w="2520315" h="25400">
                <a:moveTo>
                  <a:pt x="2519997" y="0"/>
                </a:moveTo>
                <a:lnTo>
                  <a:pt x="0" y="0"/>
                </a:lnTo>
                <a:lnTo>
                  <a:pt x="0" y="25311"/>
                </a:lnTo>
                <a:lnTo>
                  <a:pt x="2519997" y="25311"/>
                </a:lnTo>
                <a:lnTo>
                  <a:pt x="2519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5674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el 1"/>
          <p:cNvSpPr>
            <a:spLocks noGrp="1"/>
          </p:cNvSpPr>
          <p:nvPr>
            <p:ph type="title"/>
          </p:nvPr>
        </p:nvSpPr>
        <p:spPr>
          <a:xfrm>
            <a:off x="1043608" y="116632"/>
            <a:ext cx="7056784" cy="720080"/>
          </a:xfrm>
        </p:spPr>
        <p:txBody>
          <a:bodyPr/>
          <a:lstStyle/>
          <a:p>
            <a:pPr lvl="0"/>
            <a:r>
              <a:rPr lang="en-US" dirty="0"/>
              <a:t>Evaluation (Training &amp; Validation Loss)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A8B83C5-AA3F-4E6C-AB75-E43AE04E4238}"/>
              </a:ext>
            </a:extLst>
          </p:cNvPr>
          <p:cNvSpPr txBox="1">
            <a:spLocks/>
          </p:cNvSpPr>
          <p:nvPr/>
        </p:nvSpPr>
        <p:spPr bwMode="auto">
          <a:xfrm>
            <a:off x="683568" y="1206365"/>
            <a:ext cx="3114092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SzPct val="12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SzPct val="90000"/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kern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B8915-BABD-4DE2-8ED3-99620A95D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49" y="1371600"/>
            <a:ext cx="7256102" cy="434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55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B44EB-29DB-4697-813B-850EA900A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(MAE &amp; RMSE)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44845E6-BF30-4A67-B0C1-57209EA3AD3C}"/>
              </a:ext>
            </a:extLst>
          </p:cNvPr>
          <p:cNvSpPr txBox="1">
            <a:spLocks/>
          </p:cNvSpPr>
          <p:nvPr/>
        </p:nvSpPr>
        <p:spPr bwMode="auto">
          <a:xfrm>
            <a:off x="899592" y="1124744"/>
            <a:ext cx="8100392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SzPct val="12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SzPct val="90000"/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031EBBB-BC87-42D4-BBD0-1AE723E37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346283"/>
              </p:ext>
            </p:extLst>
          </p:nvPr>
        </p:nvGraphicFramePr>
        <p:xfrm>
          <a:off x="521804" y="1772816"/>
          <a:ext cx="8100393" cy="2859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131">
                  <a:extLst>
                    <a:ext uri="{9D8B030D-6E8A-4147-A177-3AD203B41FA5}">
                      <a16:colId xmlns:a16="http://schemas.microsoft.com/office/drawing/2014/main" val="3641657189"/>
                    </a:ext>
                  </a:extLst>
                </a:gridCol>
                <a:gridCol w="2700131">
                  <a:extLst>
                    <a:ext uri="{9D8B030D-6E8A-4147-A177-3AD203B41FA5}">
                      <a16:colId xmlns:a16="http://schemas.microsoft.com/office/drawing/2014/main" val="4087173091"/>
                    </a:ext>
                  </a:extLst>
                </a:gridCol>
                <a:gridCol w="2700131">
                  <a:extLst>
                    <a:ext uri="{9D8B030D-6E8A-4147-A177-3AD203B41FA5}">
                      <a16:colId xmlns:a16="http://schemas.microsoft.com/office/drawing/2014/main" val="665529021"/>
                    </a:ext>
                  </a:extLst>
                </a:gridCol>
              </a:tblGrid>
              <a:tr h="499310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89862"/>
                  </a:ext>
                </a:extLst>
              </a:tr>
              <a:tr h="499310">
                <a:tc>
                  <a:txBody>
                    <a:bodyPr/>
                    <a:lstStyle/>
                    <a:p>
                      <a:r>
                        <a:rPr lang="en-US"/>
                        <a:t>GRU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1.784904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2.263436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722173"/>
                  </a:ext>
                </a:extLst>
              </a:tr>
              <a:tr h="499310">
                <a:tc>
                  <a:txBody>
                    <a:bodyPr/>
                    <a:lstStyle/>
                    <a:p>
                      <a:r>
                        <a:rPr lang="en-US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1.849126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2.334287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138484"/>
                  </a:ext>
                </a:extLst>
              </a:tr>
              <a:tr h="861824">
                <a:tc>
                  <a:txBody>
                    <a:bodyPr/>
                    <a:lstStyle/>
                    <a:p>
                      <a:r>
                        <a:rPr lang="en-US"/>
                        <a:t>Persistence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1.955144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2.48259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56061"/>
                  </a:ext>
                </a:extLst>
              </a:tr>
              <a:tr h="499310">
                <a:tc>
                  <a:txBody>
                    <a:bodyPr/>
                    <a:lstStyle/>
                    <a:p>
                      <a:r>
                        <a:rPr lang="en-US"/>
                        <a:t>Climatology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2.110734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2.704584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986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0954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el 1"/>
          <p:cNvSpPr>
            <a:spLocks noGrp="1"/>
          </p:cNvSpPr>
          <p:nvPr>
            <p:ph type="title"/>
          </p:nvPr>
        </p:nvSpPr>
        <p:spPr>
          <a:xfrm>
            <a:off x="1043608" y="116632"/>
            <a:ext cx="7056784" cy="720080"/>
          </a:xfrm>
        </p:spPr>
        <p:txBody>
          <a:bodyPr/>
          <a:lstStyle/>
          <a:p>
            <a:pPr lvl="0"/>
            <a:r>
              <a:rPr lang="en-US" dirty="0"/>
              <a:t>Evaluation (Predicted vs Actual )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A8B83C5-AA3F-4E6C-AB75-E43AE04E4238}"/>
              </a:ext>
            </a:extLst>
          </p:cNvPr>
          <p:cNvSpPr txBox="1">
            <a:spLocks/>
          </p:cNvSpPr>
          <p:nvPr/>
        </p:nvSpPr>
        <p:spPr bwMode="auto">
          <a:xfrm>
            <a:off x="683568" y="1206365"/>
            <a:ext cx="3114092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SzPct val="12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SzPct val="90000"/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9pPr>
          </a:lstStyle>
          <a:p>
            <a:pPr marL="0" indent="0">
              <a:buFont typeface="Wingdings" charset="2"/>
              <a:buNone/>
            </a:pPr>
            <a:endParaRPr lang="en-US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496485-F21C-446C-A679-B69224927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68760"/>
            <a:ext cx="8208912" cy="490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55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95536" y="3014822"/>
            <a:ext cx="8748464" cy="1066800"/>
          </a:xfrm>
        </p:spPr>
        <p:txBody>
          <a:bodyPr/>
          <a:lstStyle/>
          <a:p>
            <a:r>
              <a:rPr lang="en-US" dirty="0"/>
              <a:t>Conclusion</a:t>
            </a:r>
            <a:endParaRPr lang="de-DE" dirty="0"/>
          </a:p>
        </p:txBody>
      </p:sp>
      <p:sp>
        <p:nvSpPr>
          <p:cNvPr id="512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2555776" y="-1107504"/>
            <a:ext cx="5544616" cy="792088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09DFC844-4590-4CC9-9B8F-8D0F9248B19B}"/>
              </a:ext>
            </a:extLst>
          </p:cNvPr>
          <p:cNvSpPr/>
          <p:nvPr/>
        </p:nvSpPr>
        <p:spPr>
          <a:xfrm flipV="1">
            <a:off x="40687" y="4135760"/>
            <a:ext cx="4387297" cy="53255"/>
          </a:xfrm>
          <a:custGeom>
            <a:avLst/>
            <a:gdLst/>
            <a:ahLst/>
            <a:cxnLst/>
            <a:rect l="l" t="t" r="r" b="b"/>
            <a:pathLst>
              <a:path w="2520315" h="25400">
                <a:moveTo>
                  <a:pt x="2519997" y="0"/>
                </a:moveTo>
                <a:lnTo>
                  <a:pt x="0" y="0"/>
                </a:lnTo>
                <a:lnTo>
                  <a:pt x="0" y="25311"/>
                </a:lnTo>
                <a:lnTo>
                  <a:pt x="2519997" y="25311"/>
                </a:lnTo>
                <a:lnTo>
                  <a:pt x="2519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6774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B1398-2607-4014-B5D8-37700D948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50D7D6-894D-4922-A9A5-7361F2981E24}"/>
              </a:ext>
            </a:extLst>
          </p:cNvPr>
          <p:cNvSpPr txBox="1"/>
          <p:nvPr/>
        </p:nvSpPr>
        <p:spPr>
          <a:xfrm>
            <a:off x="1043608" y="1556792"/>
            <a:ext cx="7416824" cy="2351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E5ACC397-EE70-46C1-B459-609D61F49080}"/>
              </a:ext>
            </a:extLst>
          </p:cNvPr>
          <p:cNvSpPr txBox="1">
            <a:spLocks/>
          </p:cNvSpPr>
          <p:nvPr/>
        </p:nvSpPr>
        <p:spPr bwMode="auto">
          <a:xfrm>
            <a:off x="827584" y="1885382"/>
            <a:ext cx="8100392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SzPct val="12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SzPct val="90000"/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9pPr>
          </a:lstStyle>
          <a:p>
            <a:endParaRPr lang="en-US" b="1" dirty="0"/>
          </a:p>
          <a:p>
            <a:r>
              <a:rPr lang="en-US" dirty="0"/>
              <a:t>LSTM and GRU outperform simple baselines</a:t>
            </a:r>
          </a:p>
          <a:p>
            <a:endParaRPr lang="en-US" dirty="0"/>
          </a:p>
          <a:p>
            <a:r>
              <a:rPr lang="en-US" dirty="0"/>
              <a:t>GRU slightly better and faster to converge</a:t>
            </a:r>
          </a:p>
          <a:p>
            <a:endParaRPr lang="en-US" dirty="0"/>
          </a:p>
          <a:p>
            <a:r>
              <a:rPr lang="en-US" dirty="0"/>
              <a:t>DL models track temporal patterns effectively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484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B1398-2607-4014-B5D8-37700D948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(Future Work)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50D7D6-894D-4922-A9A5-7361F2981E24}"/>
              </a:ext>
            </a:extLst>
          </p:cNvPr>
          <p:cNvSpPr txBox="1"/>
          <p:nvPr/>
        </p:nvSpPr>
        <p:spPr>
          <a:xfrm>
            <a:off x="1043608" y="1556792"/>
            <a:ext cx="7416824" cy="2351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E5ACC397-EE70-46C1-B459-609D61F49080}"/>
              </a:ext>
            </a:extLst>
          </p:cNvPr>
          <p:cNvSpPr txBox="1">
            <a:spLocks/>
          </p:cNvSpPr>
          <p:nvPr/>
        </p:nvSpPr>
        <p:spPr bwMode="auto">
          <a:xfrm>
            <a:off x="899592" y="1700808"/>
            <a:ext cx="8100392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SzPct val="12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SzPct val="90000"/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9pPr>
          </a:lstStyle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multivariate inputs</a:t>
            </a:r>
          </a:p>
          <a:p>
            <a:endParaRPr lang="en-US" dirty="0"/>
          </a:p>
          <a:p>
            <a:r>
              <a:rPr lang="en-US" dirty="0"/>
              <a:t>longer sequence</a:t>
            </a:r>
          </a:p>
          <a:p>
            <a:endParaRPr lang="en-US" dirty="0"/>
          </a:p>
          <a:p>
            <a:r>
              <a:rPr lang="en-US" dirty="0"/>
              <a:t>Transformer-based models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010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B1398-2607-4014-B5D8-37700D94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648" y="1007017"/>
            <a:ext cx="144016" cy="457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50D7D6-894D-4922-A9A5-7361F2981E24}"/>
              </a:ext>
            </a:extLst>
          </p:cNvPr>
          <p:cNvSpPr txBox="1"/>
          <p:nvPr/>
        </p:nvSpPr>
        <p:spPr>
          <a:xfrm>
            <a:off x="1043608" y="1556792"/>
            <a:ext cx="7416824" cy="2351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E5ACC397-EE70-46C1-B459-609D61F49080}"/>
              </a:ext>
            </a:extLst>
          </p:cNvPr>
          <p:cNvSpPr txBox="1">
            <a:spLocks/>
          </p:cNvSpPr>
          <p:nvPr/>
        </p:nvSpPr>
        <p:spPr bwMode="auto">
          <a:xfrm>
            <a:off x="360040" y="3428256"/>
            <a:ext cx="8100392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SzPct val="12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CD1"/>
              </a:buClr>
              <a:buSzPct val="90000"/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-107" charset="-128"/>
                <a:cs typeface="Arial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9pPr>
          </a:lstStyle>
          <a:p>
            <a:pPr marL="0" indent="0" algn="ctr">
              <a:buNone/>
            </a:pPr>
            <a:r>
              <a:rPr lang="en-US" sz="48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032608996"/>
      </p:ext>
    </p:extLst>
  </p:cSld>
  <p:clrMapOvr>
    <a:masterClrMapping/>
  </p:clrMapOvr>
</p:sld>
</file>

<file path=ppt/theme/theme1.xml><?xml version="1.0" encoding="utf-8"?>
<a:theme xmlns:a="http://schemas.openxmlformats.org/drawingml/2006/main" name="9999 TemplateSVSnurHF">
  <a:themeElements>
    <a:clrScheme name="Benutzerdefiniert 1">
      <a:dk1>
        <a:srgbClr val="000000"/>
      </a:dk1>
      <a:lt1>
        <a:srgbClr val="FFFFFF"/>
      </a:lt1>
      <a:dk2>
        <a:srgbClr val="335787"/>
      </a:dk2>
      <a:lt2>
        <a:srgbClr val="B3B3B3"/>
      </a:lt2>
      <a:accent1>
        <a:srgbClr val="99CCFF"/>
      </a:accent1>
      <a:accent2>
        <a:srgbClr val="C1222A"/>
      </a:accent2>
      <a:accent3>
        <a:srgbClr val="FFFFFF"/>
      </a:accent3>
      <a:accent4>
        <a:srgbClr val="000000"/>
      </a:accent4>
      <a:accent5>
        <a:srgbClr val="CAE2FF"/>
      </a:accent5>
      <a:accent6>
        <a:srgbClr val="C1222A"/>
      </a:accent6>
      <a:hlink>
        <a:srgbClr val="335787"/>
      </a:hlink>
      <a:folHlink>
        <a:srgbClr val="33578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7" charset="0"/>
            <a:ea typeface="ＭＳ Ｐゴシック" pitchFamily="-107" charset="-128"/>
            <a:cs typeface="ＭＳ Ｐゴシック" pitchFamily="-107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7" charset="0"/>
            <a:ea typeface="ＭＳ Ｐゴシック" pitchFamily="-107" charset="-128"/>
            <a:cs typeface="ＭＳ Ｐゴシック" pitchFamily="-107" charset="-128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9999 TemplateSVSnurHF.potx</Template>
  <TotalTime>0</TotalTime>
  <Words>216</Words>
  <Application>Microsoft Office PowerPoint</Application>
  <PresentationFormat>On-screen Show (4:3)</PresentationFormat>
  <Paragraphs>92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ＭＳ Ｐゴシック</vt:lpstr>
      <vt:lpstr>Andale Mono</vt:lpstr>
      <vt:lpstr>Arial</vt:lpstr>
      <vt:lpstr>Calibri</vt:lpstr>
      <vt:lpstr>Verdana</vt:lpstr>
      <vt:lpstr>Wingdings</vt:lpstr>
      <vt:lpstr>9999 TemplateSVSnurHF</vt:lpstr>
      <vt:lpstr>Short-Term Weather Prediction Using Deep Learning</vt:lpstr>
      <vt:lpstr>Table of Contents</vt:lpstr>
      <vt:lpstr>Motivation</vt:lpstr>
      <vt:lpstr>Motivation</vt:lpstr>
      <vt:lpstr>Methodology</vt:lpstr>
      <vt:lpstr>Methodology</vt:lpstr>
      <vt:lpstr>Methodology</vt:lpstr>
      <vt:lpstr>Results &amp; Evaluation</vt:lpstr>
      <vt:lpstr>Evaluation (Training &amp; Validation Loss)</vt:lpstr>
      <vt:lpstr>Evaluation (MAE &amp; RMSE)</vt:lpstr>
      <vt:lpstr>Evaluation (Predicted vs Actual )</vt:lpstr>
      <vt:lpstr>Conclusion</vt:lpstr>
      <vt:lpstr>Conclusion</vt:lpstr>
      <vt:lpstr>Conclusion (Future Work)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2020-06-08T13:47:26Z</dcterms:created>
  <dcterms:modified xsi:type="dcterms:W3CDTF">2025-07-13T23:16:14Z</dcterms:modified>
  <cp:category/>
</cp:coreProperties>
</file>